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D1"/>
    <a:srgbClr val="D7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8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5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2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4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9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0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2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8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51E49-77BA-4FD5-BB46-972D51D768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EADF3-FECF-4F5F-9010-DF0200C024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5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AEEF6CB-EDF1-3500-2D4F-FFC8462D2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2170" y="254529"/>
            <a:ext cx="14088533" cy="93969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29AC6ED-961E-4BC5-13AB-FAE78EC11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0953" y="-391348"/>
            <a:ext cx="660722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0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643F59C-B7B5-ECF5-4E9D-6B881F681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1" t="47037" r="12241" b="15185"/>
          <a:stretch/>
        </p:blipFill>
        <p:spPr>
          <a:xfrm>
            <a:off x="750713" y="3399836"/>
            <a:ext cx="4292600" cy="374226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183A99C-BB8E-0E0B-92CE-7EC0A7A5ACEC}"/>
              </a:ext>
            </a:extLst>
          </p:cNvPr>
          <p:cNvSpPr txBox="1"/>
          <p:nvPr/>
        </p:nvSpPr>
        <p:spPr>
          <a:xfrm>
            <a:off x="1206486" y="2548002"/>
            <a:ext cx="3381054" cy="5404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521" dirty="0">
                <a:latin typeface="Century Schoolbook" panose="02040604050505020304" pitchFamily="18" charset="0"/>
              </a:rPr>
              <a:t>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DDB285D-7CA2-C067-A669-5ADDDF9F8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76" t="23876" r="24494" b="36994"/>
          <a:stretch/>
        </p:blipFill>
        <p:spPr>
          <a:xfrm>
            <a:off x="-8626871" y="5286787"/>
            <a:ext cx="4292600" cy="360774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59D03D9-AD6B-5CFA-1397-198880A9D9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1" t="47037" r="12241" b="15185"/>
          <a:stretch/>
        </p:blipFill>
        <p:spPr>
          <a:xfrm>
            <a:off x="5628640" y="676868"/>
            <a:ext cx="4292600" cy="374226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303FD2D-B445-A435-DAF5-AF59774A7D8B}"/>
              </a:ext>
            </a:extLst>
          </p:cNvPr>
          <p:cNvSpPr txBox="1"/>
          <p:nvPr/>
        </p:nvSpPr>
        <p:spPr>
          <a:xfrm>
            <a:off x="6084413" y="-174966"/>
            <a:ext cx="3381054" cy="5404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521" dirty="0">
                <a:latin typeface="Century Schoolbook" panose="02040604050505020304" pitchFamily="18" charset="0"/>
              </a:rPr>
              <a:t>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0996D94-C8A5-1DD6-EE25-2632DBE05D9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1" t="47037" r="12241" b="15185"/>
          <a:stretch/>
        </p:blipFill>
        <p:spPr>
          <a:xfrm>
            <a:off x="5628640" y="4773793"/>
            <a:ext cx="4292600" cy="374226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821D764-990F-757D-5E60-93F55B1522EC}"/>
              </a:ext>
            </a:extLst>
          </p:cNvPr>
          <p:cNvSpPr txBox="1"/>
          <p:nvPr/>
        </p:nvSpPr>
        <p:spPr>
          <a:xfrm>
            <a:off x="6084413" y="3921959"/>
            <a:ext cx="3381054" cy="5404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521" dirty="0">
                <a:latin typeface="Century Schoolbook" panose="02040604050505020304" pitchFamily="18" charset="0"/>
              </a:rPr>
              <a:t>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1177371-C971-9C18-163D-7ACFE498E71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1" t="47037" r="12241" b="15185"/>
          <a:stretch/>
        </p:blipFill>
        <p:spPr>
          <a:xfrm>
            <a:off x="-3834549" y="5625629"/>
            <a:ext cx="4292600" cy="374226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E61BB17-3251-CBF9-92BB-2D4FC05AEE87}"/>
              </a:ext>
            </a:extLst>
          </p:cNvPr>
          <p:cNvSpPr txBox="1"/>
          <p:nvPr/>
        </p:nvSpPr>
        <p:spPr>
          <a:xfrm>
            <a:off x="-3378776" y="4773794"/>
            <a:ext cx="3381054" cy="5404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521" dirty="0">
                <a:latin typeface="Century Schoolbook" panose="02040604050505020304" pitchFamily="18" charset="0"/>
              </a:rPr>
              <a:t>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C13CBE1-6AE2-39F5-2BAB-F098499D826F}"/>
              </a:ext>
            </a:extLst>
          </p:cNvPr>
          <p:cNvSpPr txBox="1"/>
          <p:nvPr/>
        </p:nvSpPr>
        <p:spPr>
          <a:xfrm>
            <a:off x="-3378778" y="4773794"/>
            <a:ext cx="3381054" cy="5404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52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</a:rPr>
              <a:t>R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C9FEACB-9993-2BA0-1289-3789B0E70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86" t="23020" r="23995" b="36391"/>
          <a:stretch/>
        </p:blipFill>
        <p:spPr>
          <a:xfrm>
            <a:off x="-8676638" y="807155"/>
            <a:ext cx="4342367" cy="374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3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112E840-5F5D-22F4-7018-8EFB13B8309C}"/>
              </a:ext>
            </a:extLst>
          </p:cNvPr>
          <p:cNvSpPr/>
          <p:nvPr/>
        </p:nvSpPr>
        <p:spPr>
          <a:xfrm>
            <a:off x="-274320" y="-195072"/>
            <a:ext cx="7391400" cy="10168128"/>
          </a:xfrm>
          <a:prstGeom prst="rect">
            <a:avLst/>
          </a:prstGeom>
          <a:ln>
            <a:solidFill>
              <a:srgbClr val="009DD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3E5D102-C0DC-C35E-8B0F-09D2D476852E}"/>
              </a:ext>
            </a:extLst>
          </p:cNvPr>
          <p:cNvSpPr txBox="1"/>
          <p:nvPr/>
        </p:nvSpPr>
        <p:spPr>
          <a:xfrm>
            <a:off x="377706" y="355805"/>
            <a:ext cx="6102586" cy="1426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89" b="1" dirty="0">
                <a:solidFill>
                  <a:srgbClr val="D7D7D7"/>
                </a:solidFill>
                <a:latin typeface="Century Schoolbook" panose="02040604050505020304" pitchFamily="18" charset="0"/>
              </a:rPr>
              <a:t>Handbook for </a:t>
            </a:r>
            <a:br>
              <a:rPr lang="en-US" sz="2889" b="1" dirty="0">
                <a:solidFill>
                  <a:srgbClr val="D7D7D7"/>
                </a:solidFill>
                <a:latin typeface="Century Schoolbook" panose="02040604050505020304" pitchFamily="18" charset="0"/>
              </a:rPr>
            </a:br>
            <a:r>
              <a:rPr lang="en-US" sz="2889" b="1" dirty="0">
                <a:solidFill>
                  <a:srgbClr val="009DD1"/>
                </a:solidFill>
                <a:latin typeface="Century Schoolbook" panose="02040604050505020304" pitchFamily="18" charset="0"/>
              </a:rPr>
              <a:t>Reproduction and Replication Studies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DA1593-E5A2-0AA6-B0B4-6F189CD014E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1" t="47037" r="12241" b="15185"/>
          <a:stretch/>
        </p:blipFill>
        <p:spPr>
          <a:xfrm>
            <a:off x="-97536" y="2332842"/>
            <a:ext cx="7107936" cy="408498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3A36DD3-D909-8FA6-CC95-E7CD0C31AF96}"/>
              </a:ext>
            </a:extLst>
          </p:cNvPr>
          <p:cNvSpPr txBox="1"/>
          <p:nvPr/>
        </p:nvSpPr>
        <p:spPr>
          <a:xfrm>
            <a:off x="667545" y="7259095"/>
            <a:ext cx="552290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Lukas Röseler*, Lukas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Wallrich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*, Helena Hartmann, Luisa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Altegoer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, Veronica Boyce,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Sarahanne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 M. Field, Janik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Goltermann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, Joachim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Hüffmeier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, Charlotte R. Pennington, Merle-Marie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Pittelkow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,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Priya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 Silverstein, Don van </a:t>
            </a:r>
            <a:r>
              <a:rPr lang="de-DE" sz="1400" dirty="0" err="1">
                <a:solidFill>
                  <a:srgbClr val="D7D7D7"/>
                </a:solidFill>
                <a:latin typeface="Century Schoolbook" panose="02040604050505020304" pitchFamily="18" charset="0"/>
              </a:rPr>
              <a:t>Ravenzwaaij</a:t>
            </a:r>
            <a:r>
              <a:rPr lang="de-DE" sz="1400" dirty="0">
                <a:solidFill>
                  <a:srgbClr val="D7D7D7"/>
                </a:solidFill>
                <a:latin typeface="Century Schoolbook" panose="02040604050505020304" pitchFamily="18" charset="0"/>
              </a:rPr>
              <a:t>, Flavio Azevedo</a:t>
            </a:r>
            <a:endParaRPr lang="en-US" sz="1400" dirty="0">
              <a:solidFill>
                <a:srgbClr val="D7D7D7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2F44AA1-1A00-96E6-9B7A-886AF1D30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756" y="9053478"/>
            <a:ext cx="1798985" cy="56929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50F569A-7957-3B6B-677A-4BD3BA29E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758" y="9044118"/>
            <a:ext cx="1955519" cy="5880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7AF581-004B-C39E-9FE2-C529250C2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410045" y="126085"/>
            <a:ext cx="6858000" cy="942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55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FB25E9A-1704-A304-E286-FEFFF5BBD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3221"/>
            <a:ext cx="6858000" cy="3279557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BBFE23E-4EEB-66DD-4A26-AE644627BBA0}"/>
              </a:ext>
            </a:extLst>
          </p:cNvPr>
          <p:cNvSpPr/>
          <p:nvPr/>
        </p:nvSpPr>
        <p:spPr>
          <a:xfrm>
            <a:off x="0" y="828675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Preregistration, data, and code available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EEC30D6-DCD2-5AD9-C60C-EA1F41D45C1E}"/>
              </a:ext>
            </a:extLst>
          </p:cNvPr>
          <p:cNvSpPr/>
          <p:nvPr/>
        </p:nvSpPr>
        <p:spPr>
          <a:xfrm>
            <a:off x="1647825" y="828675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Data and code available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08167BF-9ADD-D196-6C0B-C061D4FB7234}"/>
              </a:ext>
            </a:extLst>
          </p:cNvPr>
          <p:cNvSpPr/>
          <p:nvPr/>
        </p:nvSpPr>
        <p:spPr>
          <a:xfrm>
            <a:off x="3295650" y="828675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Only data available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D724061-E3D2-AD58-4F7E-BEDA2F76F12B}"/>
              </a:ext>
            </a:extLst>
          </p:cNvPr>
          <p:cNvSpPr/>
          <p:nvPr/>
        </p:nvSpPr>
        <p:spPr>
          <a:xfrm>
            <a:off x="4943475" y="828675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No data available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630A186-417C-99F3-668D-BDE6DDCC4BFE}"/>
              </a:ext>
            </a:extLst>
          </p:cNvPr>
          <p:cNvSpPr/>
          <p:nvPr/>
        </p:nvSpPr>
        <p:spPr>
          <a:xfrm>
            <a:off x="0" y="1321224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Check adherence to pre-analysis plan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083C592-D335-5831-4088-400FC148EEEB}"/>
              </a:ext>
            </a:extLst>
          </p:cNvPr>
          <p:cNvSpPr/>
          <p:nvPr/>
        </p:nvSpPr>
        <p:spPr>
          <a:xfrm>
            <a:off x="1647825" y="1813772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Conduct a numerical reproduction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D963868-942E-154D-C374-0F2BF2492D68}"/>
              </a:ext>
            </a:extLst>
          </p:cNvPr>
          <p:cNvSpPr/>
          <p:nvPr/>
        </p:nvSpPr>
        <p:spPr>
          <a:xfrm>
            <a:off x="3295650" y="2306321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Conduct a recreate reproduction and robustness reproduction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6A0BF04-D6DB-8051-AFAF-A974C4ED8E02}"/>
              </a:ext>
            </a:extLst>
          </p:cNvPr>
          <p:cNvSpPr/>
          <p:nvPr/>
        </p:nvSpPr>
        <p:spPr>
          <a:xfrm>
            <a:off x="4943475" y="2798869"/>
            <a:ext cx="1581150" cy="409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Conduct a replication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4D624E2-B972-436E-14FD-A3F971E50A54}"/>
              </a:ext>
            </a:extLst>
          </p:cNvPr>
          <p:cNvSpPr/>
          <p:nvPr/>
        </p:nvSpPr>
        <p:spPr>
          <a:xfrm>
            <a:off x="4943475" y="1343024"/>
            <a:ext cx="1581150" cy="880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Check correctness of reported results via </a:t>
            </a:r>
            <a:r>
              <a:rPr lang="en-US" sz="900" dirty="0" err="1"/>
              <a:t>statcheck</a:t>
            </a:r>
            <a:r>
              <a:rPr lang="en-US" sz="900" dirty="0"/>
              <a:t> and forensic meta-science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C972F30-8578-DCF0-83F7-A3934FF92581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790575" y="1238250"/>
            <a:ext cx="0" cy="82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531B4DA-7909-23F8-6ED9-400AACFC6D2F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2438400" y="1238250"/>
            <a:ext cx="0" cy="575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2C58CB5-5C9E-09BB-F16F-D80BFBD0110A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4086225" y="1238250"/>
            <a:ext cx="0" cy="1068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C7522D6-DCBF-7E9B-06EE-6D1335EC6E80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5734050" y="1238250"/>
            <a:ext cx="0" cy="104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3E6C1D94-C26D-9A75-7931-5465E14103B4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5734050" y="2223347"/>
            <a:ext cx="0" cy="575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E156BA6E-709B-56B8-699B-229D5FA86339}"/>
              </a:ext>
            </a:extLst>
          </p:cNvPr>
          <p:cNvCxnSpPr>
            <a:stCxn id="10" idx="2"/>
            <a:endCxn id="11" idx="1"/>
          </p:cNvCxnSpPr>
          <p:nvPr/>
        </p:nvCxnSpPr>
        <p:spPr>
          <a:xfrm rot="16200000" flipH="1">
            <a:off x="1075320" y="1446054"/>
            <a:ext cx="287761" cy="8572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B7CD58C2-9CAA-4154-214B-431BD6B803B9}"/>
              </a:ext>
            </a:extLst>
          </p:cNvPr>
          <p:cNvCxnSpPr>
            <a:stCxn id="11" idx="2"/>
            <a:endCxn id="12" idx="1"/>
          </p:cNvCxnSpPr>
          <p:nvPr/>
        </p:nvCxnSpPr>
        <p:spPr>
          <a:xfrm rot="16200000" flipH="1">
            <a:off x="2723144" y="1938603"/>
            <a:ext cx="287762" cy="8572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4DB9C78F-720D-8D5E-4AEC-7F2E1BA8AECD}"/>
              </a:ext>
            </a:extLst>
          </p:cNvPr>
          <p:cNvCxnSpPr>
            <a:stCxn id="12" idx="2"/>
            <a:endCxn id="13" idx="1"/>
          </p:cNvCxnSpPr>
          <p:nvPr/>
        </p:nvCxnSpPr>
        <p:spPr>
          <a:xfrm rot="16200000" flipH="1">
            <a:off x="4370970" y="2431151"/>
            <a:ext cx="287761" cy="8572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34" name="Grafik 33">
            <a:extLst>
              <a:ext uri="{FF2B5EF4-FFF2-40B4-BE49-F238E27FC236}">
                <a16:creationId xmlns:a16="http://schemas.microsoft.com/office/drawing/2014/main" id="{E7673B63-9FA9-18BD-8749-47B723208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12" y="5491503"/>
            <a:ext cx="6541575" cy="23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32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101</Words>
  <Application>Microsoft Office PowerPoint</Application>
  <PresentationFormat>A4-Papier (210 x 297 mm)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Century Schoolbook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Röseler</dc:creator>
  <cp:lastModifiedBy>Lukas Röseler</cp:lastModifiedBy>
  <cp:revision>11</cp:revision>
  <dcterms:created xsi:type="dcterms:W3CDTF">2025-08-04T07:25:07Z</dcterms:created>
  <dcterms:modified xsi:type="dcterms:W3CDTF">2026-09-10T09:34:42Z</dcterms:modified>
</cp:coreProperties>
</file>